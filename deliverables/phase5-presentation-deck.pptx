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Online programs</c:v>
                </c:pt>
              </c:strCache>
            </c:strRef>
          </c:tx>
          <c:spPr>
            <a:solidFill>
              <a:srgbClr val="CFAE7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Peabody (Education)</c:v>
                  </c:pt>
                  <c:pt idx="1">
                    <c:v>Connected Computing</c:v>
                  </c:pt>
                  <c:pt idx="2">
                    <c:v>Nursing</c:v>
                  </c:pt>
                  <c:pt idx="3">
                    <c:v>Medicine</c:v>
                  </c:pt>
                  <c:pt idx="4">
                    <c:v>Law</c:v>
                  </c:pt>
                  <c:pt idx="5">
                    <c:v>Engineering</c:v>
                  </c:pt>
                  <c:pt idx="6">
                    <c:v>Divinity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</c:v>
                </c:pt>
                <c:pt idx="1">
                  <c:v>2</c:v>
                </c:pt>
                <c:pt idx="2">
                  <c:v>3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C1C1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4173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spc="300" kern="0" dirty="0">
                <a:solidFill>
                  <a:srgbClr val="CFA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 ASSESSMENT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874520"/>
            <a:ext cx="10728655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New Online Program Should</a:t>
            </a:r>
            <a:endParaRPr lang="en-US" sz="40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Vanderbilt Launch Next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0" y="35204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FEE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Data-Driven Program Viability Assessment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0" y="4343400"/>
            <a:ext cx="1219169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Office of the Deputy Provost,</a:t>
            </a:r>
            <a:endParaRPr lang="en-US" sz="14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of Professional Education, and Office of Learning Innovation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7280" y="6172200"/>
            <a:ext cx="999713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portfolio project modeled on a real Vanderbilt University Office of the Deputy Provost job posting. Not commissioned by, conducted for, or reviewed by Vanderbilt University; does not represent an official Vanderbilt position or work product.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all five finalists into program-development review this cycle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554480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Science, Applied Informatics, Quantitative Economics, Business Analytics, and Information Science all clear the same three checks.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demand, national student demand, and a real gap in Vanderbilt's current online catalog — in that score order.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971800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field, Management Science, scored higher on paper but was set aside.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labor-demand number is inflated by a single job category broad enough to inflate several unrelated fields the same way. Detail on slide 09.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389120"/>
            <a:ext cx="11185855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here, the work is operational.</a:t>
            </a:r>
            <a:endParaRPr lang="en-US" sz="1600" dirty="0"/>
          </a:p>
          <a:p>
            <a:pPr algn="l" indent="0" marL="0">
              <a:lnSpc>
                <a:spcPct val="120000"/>
              </a:lnSpc>
              <a:spcAft>
                <a:spcPts val="600"/>
              </a:spcAft>
              <a:buNone/>
            </a:pPr>
            <a:r>
              <a:rPr lang="en-US" sz="160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naming decisions, five school placements, and one competitive scan this assessment doesn't yet cover, all on slide 11.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Vanderbilt's online catalog is concentrated in three areas. This assessment covers everywhere else.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600200"/>
            <a:ext cx="1118585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Vanderbilt's online and professional portfolio has grown quickly, almost entirely in three areas: education (Peabody College), computing and AI (College of Connected Computing), and nursing. Today's online catalog: 15 degree programs (11 master's, 4 doctoral) plus 12 standalone certificates.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288036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assessment answers three questions: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85800" y="3291840"/>
            <a:ext cx="11002975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fields outside Vanderbilt's current online footprint show real, measurable national demand?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employers show sustained hiring demand for graduates in that field?</a:t>
            </a:r>
            <a:endParaRPr lang="en-US" sz="160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enough students nationally already completing degrees in it to suggest a real audience?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507492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considered is measured the same way: national labor projections (BLS) and national completions data (IPEDS¹) against the same criteria.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623620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IPEDS — the Integrated Postsecondary Education Data System, the U.S. Department of Education's database of national degree completions.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Employers are already hiring for all five fields, and the growth is concentrated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scientists are projected to grow 33.5% between 2024 and 2034. Information security analysts and medical and health services managers show up on the same federal list of fastest-growing occupations.</a:t>
            </a:r>
            <a:endParaRPr lang="en-US" sz="1600" dirty="0"/>
          </a:p>
        </p:txBody>
      </p:sp>
      <p:pic>
        <p:nvPicPr>
          <p:cNvPr id="6" name="Image 0" descr="/tmp/phase5_v2/repo_sim/notebooks/output/fig1_occupations_by_fina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2608" y="2240280"/>
            <a:ext cx="6126480" cy="30661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361318"/>
            <a:ext cx="1118585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occupations (SOC¹ codes) behind each finalist's labor-demand score. Green = also on BLS's own fastest-growing / highest-volume lists.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SOC — Standard Occupational Classification, the federal system used to identify occupations.  Source: U.S. Bureau of Labor Statistics, Employment Projections 2024–2034.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a percentile basis, Data Science already outpaces 96% of all fields scored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417320"/>
            <a:ext cx="11185855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catch-all fields dominate raw enrollment counts — General Business Administration alone runs close to 100,000 completions a year. Ranking on percentile rank¹ instead of raw counts keeps outsized fields from swamping the comparison.</a:t>
            </a:r>
            <a:endParaRPr lang="en-US" sz="1600" dirty="0"/>
          </a:p>
        </p:txBody>
      </p:sp>
      <p:pic>
        <p:nvPicPr>
          <p:cNvPr id="6" name="Image 0" descr="/tmp/phase5_v2/repo_sim/notebooks/output/fig2_completions_sk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8288" y="2331720"/>
            <a:ext cx="6675120" cy="28415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5246422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sit far above the median field. Data Science and Business Analytics show only 5 years of history, not 13 — both were only added to the federal CIP² system in 2020.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6400800"/>
            <a:ext cx="11185855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Percentile rank — a field's standing against all 1,268 fields scored; 90th percentile beat 90 of every 100.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CIP — Classification of Instructional Programs, the federal code used to identify a field of study.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 five finalists overlaps a program Vanderbilt already teaches online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4754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Vanderbilt's 15 online degree programs cluster into three schools, with four more spread one apiece elsewhere. All five finalists sit outside every one of these areas.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0" y="1417320"/>
          <a:ext cx="621792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5486400" y="10515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Vanderbilt's current 15-program online catalog, by school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field is scored on five weighted factors, then sorted into Go, Test, or Pass</a:t>
            </a:r>
            <a:endParaRPr lang="en-US" sz="2500" dirty="0"/>
          </a:p>
        </p:txBody>
      </p:sp>
      <p:pic>
        <p:nvPicPr>
          <p:cNvPr id="5" name="Image 0" descr="/tmp/phase5_v2/repo_sim/notebooks/output/fig3_composite_weigh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98168" y="1508760"/>
            <a:ext cx="8595360" cy="299337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4593577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weighted factors behind every composite score¹. Current size (enrollment, job openings) counts most; growth counts less, since a small base can swing hard.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02920" y="5096497"/>
            <a:ext cx="3545738" cy="1051560"/>
          </a:xfrm>
          <a:prstGeom prst="roundRect">
            <a:avLst>
              <a:gd name="adj" fmla="val 6957"/>
            </a:avLst>
          </a:prstGeom>
          <a:solidFill>
            <a:srgbClr val="CFAE70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187937"/>
            <a:ext cx="32714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75.3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 fields — all five finalists land here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4322978" y="5096497"/>
            <a:ext cx="3545738" cy="1051560"/>
          </a:xfrm>
          <a:prstGeom prst="roundRect">
            <a:avLst>
              <a:gd name="adj" fmla="val 6957"/>
            </a:avLst>
          </a:prstGeom>
          <a:solidFill>
            <a:srgbClr val="E0D5C0"/>
          </a:solidFill>
          <a:ln/>
        </p:spPr>
      </p:sp>
      <p:sp>
        <p:nvSpPr>
          <p:cNvPr id="10" name="Text 7"/>
          <p:cNvSpPr/>
          <p:nvPr/>
        </p:nvSpPr>
        <p:spPr>
          <a:xfrm>
            <a:off x="4460138" y="5187937"/>
            <a:ext cx="32714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45.7 – 75.2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502 fields — worth a second look later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143037" y="5096497"/>
            <a:ext cx="3545738" cy="1051560"/>
          </a:xfrm>
          <a:prstGeom prst="roundRect">
            <a:avLst>
              <a:gd name="adj" fmla="val 6957"/>
            </a:avLst>
          </a:prstGeom>
          <a:solidFill>
            <a:srgbClr val="E4E4E4"/>
          </a:solidFill>
          <a:ln/>
        </p:spPr>
      </p:sp>
      <p:sp>
        <p:nvSpPr>
          <p:cNvPr id="12" name="Text 9"/>
          <p:cNvSpPr/>
          <p:nvPr/>
        </p:nvSpPr>
        <p:spPr>
          <a:xfrm>
            <a:off x="8280197" y="5187937"/>
            <a:ext cx="32714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  </a:t>
            </a:r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45.7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626 fields — no near-term action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02920" y="6285217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Composite score — the single 0–100 number blending all five weighted factors.  Go / Test / Pass — the three tiers every field is sorted into by that score.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programs, ranked, none of them already in Vanderbilt's catalog</a:t>
            </a:r>
            <a:endParaRPr lang="en-US" sz="2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554480"/>
          <a:ext cx="5943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9144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Program Name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1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M.S. in Data 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M.S. in Applied Informatics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Econometrics &amp; Quant. Economics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M.S. in Quantitative Economics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M.S. in Business Analytics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EE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Information 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M.S. in Information Science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C1C1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4E4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6" name="Image 0" descr="/tmp/phase5_v2/repo_sim/notebooks/output/fig4_candidates_vs_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554480"/>
            <a:ext cx="5029200" cy="295624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4647881"/>
            <a:ext cx="11185855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Cluster — near-duplicate program codes representing the same real degree, collapsed into one ranked option; 126 raw Go-tier fields become 61 distinct choices this way.</a:t>
            </a:r>
            <a:endParaRPr lang="en-US" sz="9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Master of Legal Studies is coded at the CIP family level in Vanderbilt's official mapping, so it can't be matched to a scored row — shown as not scored.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Science scored highest of all 1,268 fields — and was set aside anyway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4592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C1C1C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874520"/>
            <a:ext cx="3291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400" b="1" dirty="0">
                <a:solidFill>
                  <a:srgbClr val="CFAE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</a:t>
            </a:r>
            <a:endParaRPr lang="en-US" sz="5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of 1,268</a:t>
            </a:r>
            <a:endParaRPr lang="en-US" sz="5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evaluated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069080" y="1691640"/>
            <a:ext cx="761969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spcAft>
                <a:spcPts val="1400"/>
              </a:spcAft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job-openings number is inflated by one broad occupation, “General and Operations Managers,” which inflates seven other unrelated fields the same way.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occupation code is common enough across job categories that it isn't a reliable signal for any one field. Management Science was set aside because its top-line number doesn't reflect real demand for that specific degree.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finalists share a name with an existing Vanderbilt program — neither is disqualifying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FEEEB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8308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Science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77240" y="2331720"/>
            <a:ext cx="48156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Vanderbilt's Data Science Institute already runs an on-campus master's under this exact name. That program is in-person only. Computer Science already runs online and on-campus under one name with separate admissions, so there's a direct precedent for this exact setup.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324448" y="1600200"/>
            <a:ext cx="5364328" cy="3840480"/>
          </a:xfrm>
          <a:prstGeom prst="roundRect">
            <a:avLst>
              <a:gd name="adj" fmla="val 1905"/>
            </a:avLst>
          </a:prstGeom>
          <a:solidFill>
            <a:srgbClr val="E0D5C0"/>
          </a:solidFill>
          <a:ln/>
        </p:spPr>
      </p:sp>
      <p:sp>
        <p:nvSpPr>
          <p:cNvPr id="9" name="Text 7"/>
          <p:cNvSpPr/>
          <p:nvPr/>
        </p:nvSpPr>
        <p:spPr>
          <a:xfrm>
            <a:off x="6598768" y="1783080"/>
            <a:ext cx="48156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Quantitative Economics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598768" y="2331720"/>
            <a:ext cx="4815688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closer call. Arts and Science's existing master's in Economics is filed under the exact same federal program code. Both programs are in-person only, and “Quantitative” is the word the classification uses to tell the two apart. This one needs a direct sign-off from the department before the name goes public.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C1C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384048"/>
            <a:ext cx="566928" cy="566928"/>
          </a:xfrm>
          <a:prstGeom prst="ellipse">
            <a:avLst/>
          </a:prstGeom>
          <a:solidFill>
            <a:srgbClr val="CFAE70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80160" y="329184"/>
            <a:ext cx="1040861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moves get this from analysis to action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50292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196596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the two naming questions.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need a decision before either program name goes public.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292608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each finalist to a school.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who would house it and where faculty or coursework could be shared.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3886200"/>
            <a:ext cx="5394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the competition.</a:t>
            </a:r>
            <a:endParaRPr lang="en-US" sz="1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format, and enrollment at peer institutions — not yet covered here.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55080" y="1508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FAE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355080" y="19659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signal here is public, secondary data — no surveys or interviews with students, employers, or academic staff.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 demand reaches each field through a many-to-many crosswalk: about 3 occupations per field on average, up to 180 in extreme cases.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4E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Wage isn't scored — median pay exists for only 60 of 832 occupations, too sparse to weight reliably.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" y="5989320"/>
            <a:ext cx="111858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FEEE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companion feasibility report and interactive Tableau dashboard cover the full methodology, every limitation, and the underlying data sources in detail.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Which New Online Program Should Vanderbilt Launch Next</dc:title>
  <dc:subject>A Data-Driven Program Viability Assessment</dc:subject>
  <dc:creator>Pranish Pakwan</dc:creator>
  <cp:lastModifiedBy>Pranish Pakwan</cp:lastModifiedBy>
  <cp:revision>1</cp:revision>
  <dcterms:created xsi:type="dcterms:W3CDTF">2026-08-22T06:24:09Z</dcterms:created>
  <dcterms:modified xsi:type="dcterms:W3CDTF">2026-08-22T06:24:09Z</dcterms:modified>
</cp:coreProperties>
</file>